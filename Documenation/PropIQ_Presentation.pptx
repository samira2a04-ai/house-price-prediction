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8" d="100"/>
          <a:sy n="118" d="100"/>
        </p:scale>
        <p:origin x="192" y="-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F4F8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E8F4F8"/>
                </a:solidFill>
                <a:latin typeface="Arial"/>
              </a:rPr>
              <a:t>Model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R²</c:v>
                </c:pt>
                <c:pt idx="1">
                  <c:v>Precision</c:v>
                </c:pt>
                <c:pt idx="2">
                  <c:v>Coverage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88</c:v>
                </c:pt>
                <c:pt idx="2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61-4BBC-8172-C6FD5BC71C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LightGBM</c:v>
                </c:pt>
              </c:strCache>
            </c:strRef>
          </c:tx>
          <c:spPr>
            <a:solidFill>
              <a:srgbClr val="2E6DA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R²</c:v>
                </c:pt>
                <c:pt idx="1">
                  <c:v>Precision</c:v>
                </c:pt>
                <c:pt idx="2">
                  <c:v>Coverage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</c:v>
                </c:pt>
                <c:pt idx="1">
                  <c:v>85</c:v>
                </c:pt>
                <c:pt idx="2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61-4BBC-8172-C6FD5BC71C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8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8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4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883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365760"/>
            <a:ext cx="3200400" cy="32004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PropIQ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384048" y="21488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AI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84048" y="2788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House Price Prediction for the USA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84048" y="329184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84048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Machine Learning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55648" y="329184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755648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XGBoost / LightGBM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27248" y="329184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127248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Streamlit App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498848" y="329184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498848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483K+ Records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4048" y="3931920"/>
            <a:ext cx="4754880" cy="914400"/>
          </a:xfrm>
          <a:prstGeom prst="rect">
            <a:avLst/>
          </a:prstGeom>
          <a:solidFill>
            <a:srgbClr val="1E3A4F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096512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87552" y="40782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Samira Gamal  </a:t>
            </a:r>
            <a:r>
              <a:rPr lang="en-US" sz="12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230104129   |   </a:t>
            </a: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Khalil  </a:t>
            </a:r>
            <a:r>
              <a:rPr lang="en-US" sz="12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230101792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87552" y="4407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for Data Science  •  2026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200400" y="480060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kaggle.com/datasets/ahmedshahriarsakib/usa-real-estate-dataset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128016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822960"/>
            <a:ext cx="1920240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960120"/>
            <a:ext cx="6217920" cy="1417320"/>
          </a:xfrm>
          <a:prstGeom prst="rect">
            <a:avLst/>
          </a:prstGeom>
          <a:solidFill>
            <a:srgbClr val="122233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84048" y="960120"/>
            <a:ext cx="54864" cy="1417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024128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property appraisals are slow, expensive, and subject to human bias. Buyers, sellers, investors, and financial institutions need reliable, data-driven price estimates to make informed decisions in a fast-moving market.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4048" y="2578608"/>
            <a:ext cx="2697480" cy="1508760"/>
          </a:xfrm>
          <a:prstGeom prst="rect">
            <a:avLst/>
          </a:prstGeom>
          <a:solidFill>
            <a:srgbClr val="1E3A4F"/>
          </a:solidFill>
          <a:ln w="6350">
            <a:solidFill>
              <a:srgbClr val="00957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491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42416" y="27249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Scale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3200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483,000+ listings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U.S. states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310128" y="2578608"/>
            <a:ext cx="2697480" cy="1508760"/>
          </a:xfrm>
          <a:prstGeom prst="rect">
            <a:avLst/>
          </a:prstGeom>
          <a:solidFill>
            <a:srgbClr val="1E3A4F"/>
          </a:solidFill>
          <a:ln w="6350">
            <a:solidFill>
              <a:srgbClr val="00957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72491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68496" y="27249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74720" y="3200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relationships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20+ features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36208" y="2578608"/>
            <a:ext cx="2697480" cy="1508760"/>
          </a:xfrm>
          <a:prstGeom prst="rect">
            <a:avLst/>
          </a:prstGeom>
          <a:solidFill>
            <a:srgbClr val="1E3A4F"/>
          </a:solidFill>
          <a:ln w="6350">
            <a:solidFill>
              <a:srgbClr val="00957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7249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94576" y="27249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400800" y="3200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99.85% of U.S.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codes covered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384048" y="4251960"/>
            <a:ext cx="8375904" cy="6217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52544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05840" y="42976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Machine learning models (XGBoost / LightGBM) trained on large-scale real estate data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128016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960120"/>
            <a:ext cx="4114800" cy="1170432"/>
          </a:xfrm>
          <a:prstGeom prst="rect">
            <a:avLst/>
          </a:prstGeom>
          <a:solidFill>
            <a:srgbClr val="1E3A4F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594360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27101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112471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ML pipeline for accurate U.S. house price prediction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170432"/>
          </a:xfrm>
          <a:prstGeom prst="rect">
            <a:avLst/>
          </a:prstGeom>
          <a:solidFill>
            <a:srgbClr val="1E3A4F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594360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27101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68112" y="112471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comprehensive EDA to uncover data patterns and geographic insights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" y="2258568"/>
            <a:ext cx="4114800" cy="1170432"/>
          </a:xfrm>
          <a:prstGeom prst="rect">
            <a:avLst/>
          </a:prstGeom>
          <a:solidFill>
            <a:srgbClr val="1E3A4F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4048" y="2258568"/>
            <a:ext cx="594360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256946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97280" y="242316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powerful features: luxury score, ZIP-level density, ratios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258568"/>
            <a:ext cx="4114800" cy="1170432"/>
          </a:xfrm>
          <a:prstGeom prst="rect">
            <a:avLst/>
          </a:prstGeom>
          <a:solidFill>
            <a:srgbClr val="1E3A4F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258568"/>
            <a:ext cx="594360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56946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468112" y="242316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XGBoost and LightGBM using Group K-Fold validation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" y="3557016"/>
            <a:ext cx="4114800" cy="1170432"/>
          </a:xfrm>
          <a:prstGeom prst="rect">
            <a:avLst/>
          </a:prstGeom>
          <a:solidFill>
            <a:srgbClr val="1E3A4F"/>
          </a:solidFill>
          <a:ln w="63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84048" y="3557016"/>
            <a:ext cx="594360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" y="386791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097280" y="3721608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PropIQ — a Streamlit web app for instant property valuations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557016"/>
            <a:ext cx="4114800" cy="1170432"/>
          </a:xfrm>
          <a:prstGeom prst="rect">
            <a:avLst/>
          </a:prstGeom>
          <a:solidFill>
            <a:srgbClr val="1E3A4F"/>
          </a:solidFill>
          <a:ln w="63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3557016"/>
            <a:ext cx="594360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386791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5468112" y="3721608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R² ≥ 0.82 and MAE ≤ $100K on the held-out test set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128016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960120"/>
            <a:ext cx="1920240" cy="960120"/>
          </a:xfrm>
          <a:prstGeom prst="rect">
            <a:avLst/>
          </a:prstGeom>
          <a:solidFill>
            <a:srgbClr val="0A2540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483K+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84048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960120"/>
            <a:ext cx="1920240" cy="960120"/>
          </a:xfrm>
          <a:prstGeom prst="rect">
            <a:avLst/>
          </a:prstGeom>
          <a:solidFill>
            <a:srgbClr val="0A2540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99.85%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Coverage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36592" y="960120"/>
            <a:ext cx="1920240" cy="960120"/>
          </a:xfrm>
          <a:prstGeom prst="rect">
            <a:avLst/>
          </a:prstGeom>
          <a:solidFill>
            <a:srgbClr val="0A2540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36592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36592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12864" y="960120"/>
            <a:ext cx="1920240" cy="960120"/>
          </a:xfrm>
          <a:prstGeom prst="rect">
            <a:avLst/>
          </a:prstGeom>
          <a:solidFill>
            <a:srgbClr val="0A2540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12864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12864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2103120"/>
            <a:ext cx="4114800" cy="2743200"/>
          </a:xfrm>
          <a:prstGeom prst="rect">
            <a:avLst/>
          </a:prstGeom>
          <a:solidFill>
            <a:srgbClr val="1E3A4F"/>
          </a:solidFill>
          <a:ln w="6350">
            <a:solidFill>
              <a:srgbClr val="00957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2128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651760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04672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Bedrooms, Bathrooms, House Size (sq ft)</a:t>
            </a:r>
            <a:endParaRPr lang="en-US" sz="11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990088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4672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Size, Stories, Garage</a:t>
            </a:r>
            <a:endParaRPr lang="en-US" sz="11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284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4672" y="3310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Code, City, State, Coordinates</a:t>
            </a:r>
            <a:endParaRPr lang="en-US" sz="11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666744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04672" y="3648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Type &amp; Listing Status</a:t>
            </a:r>
            <a:endParaRPr lang="en-US" sz="115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05072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04672" y="3986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Engineered: Luxury Score, Ratios</a:t>
            </a:r>
            <a:endParaRPr lang="en-US" sz="11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343400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04672" y="4325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ZIP-Level Price &amp; Density Metrics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4645152" y="2103120"/>
            <a:ext cx="4114800" cy="1188720"/>
          </a:xfrm>
          <a:prstGeom prst="rect">
            <a:avLst/>
          </a:prstGeom>
          <a:solidFill>
            <a:srgbClr val="0A2540"/>
          </a:solidFill>
          <a:ln w="63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4754880" y="2212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Kaggle Dataset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754880" y="25786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kaggle.com/datasets/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ahmedshahriarsakib/usa-real-estate-dataset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645152" y="3429000"/>
            <a:ext cx="4114800" cy="1417320"/>
          </a:xfrm>
          <a:prstGeom prst="rect">
            <a:avLst/>
          </a:prstGeom>
          <a:solidFill>
            <a:srgbClr val="1E3A4F"/>
          </a:solidFill>
          <a:ln w="6350">
            <a:solidFill>
              <a:srgbClr val="00957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/>
          <p:nvPr/>
        </p:nvSpPr>
        <p:spPr>
          <a:xfrm>
            <a:off x="4754880" y="3538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Challenges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4754880" y="3913632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4992624" y="3877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→ hierarchical imputation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4754880" y="4242816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4992624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outliers → IQR capping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4754880" y="4572000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/>
          <p:nvPr/>
        </p:nvSpPr>
        <p:spPr>
          <a:xfrm>
            <a:off x="4992624" y="4535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High-cardinality ZIP codes → target encoding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128016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777240" cy="7772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024128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08760" y="1298448"/>
            <a:ext cx="338328" cy="0"/>
          </a:xfrm>
          <a:prstGeom prst="line">
            <a:avLst/>
          </a:prstGeom>
          <a:noFill/>
          <a:ln w="19050">
            <a:solidFill>
              <a:srgbClr val="8BA8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5488" y="17373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94560" y="914400"/>
            <a:ext cx="777240" cy="7772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288" y="1024128"/>
            <a:ext cx="548640" cy="548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71800" y="1298448"/>
            <a:ext cx="338328" cy="0"/>
          </a:xfrm>
          <a:prstGeom prst="line">
            <a:avLst/>
          </a:prstGeom>
          <a:noFill/>
          <a:ln w="19050">
            <a:solidFill>
              <a:srgbClr val="8BA8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938528" y="17373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0" y="914400"/>
            <a:ext cx="777240" cy="7772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328" y="1024128"/>
            <a:ext cx="548640" cy="5486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434840" y="1298448"/>
            <a:ext cx="338328" cy="0"/>
          </a:xfrm>
          <a:prstGeom prst="line">
            <a:avLst/>
          </a:prstGeom>
          <a:noFill/>
          <a:ln w="19050">
            <a:solidFill>
              <a:srgbClr val="8BA8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3401568" y="17373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120640" y="914400"/>
            <a:ext cx="777240" cy="7772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1024128"/>
            <a:ext cx="548640" cy="5486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897880" y="1298448"/>
            <a:ext cx="338328" cy="0"/>
          </a:xfrm>
          <a:prstGeom prst="line">
            <a:avLst/>
          </a:prstGeom>
          <a:noFill/>
          <a:ln w="19050">
            <a:solidFill>
              <a:srgbClr val="8BA8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4864608" y="17373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583680" y="914400"/>
            <a:ext cx="777240" cy="7772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8" y="1024128"/>
            <a:ext cx="548640" cy="54864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360920" y="1298448"/>
            <a:ext cx="338328" cy="0"/>
          </a:xfrm>
          <a:prstGeom prst="line">
            <a:avLst/>
          </a:prstGeom>
          <a:noFill/>
          <a:ln w="19050">
            <a:solidFill>
              <a:srgbClr val="8BA8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6327648" y="17373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046720" y="914400"/>
            <a:ext cx="777240" cy="7772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6448" y="1024128"/>
            <a:ext cx="548640" cy="548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790688" y="17373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(Streamlit)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384048" y="2423160"/>
            <a:ext cx="2743200" cy="2423160"/>
          </a:xfrm>
          <a:prstGeom prst="rect">
            <a:avLst/>
          </a:prstGeom>
          <a:solidFill>
            <a:srgbClr val="1E3A4F"/>
          </a:solidFill>
          <a:ln w="6350">
            <a:solidFill>
              <a:srgbClr val="00957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42032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05840" y="2542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548640" y="2999232"/>
            <a:ext cx="2487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imputation (ZIP→City→State→Global)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capping  •  Log-transform target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 for ZIP/city, OHE for type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3310128" y="2423160"/>
            <a:ext cx="2743200" cy="2423160"/>
          </a:xfrm>
          <a:prstGeom prst="rect">
            <a:avLst/>
          </a:prstGeom>
          <a:solidFill>
            <a:srgbClr val="1E3A4F"/>
          </a:solidFill>
          <a:ln w="6350">
            <a:solidFill>
              <a:srgbClr val="00957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542032"/>
            <a:ext cx="365760" cy="36576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931920" y="2542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3474720" y="2999232"/>
            <a:ext cx="2487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Score (composite)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Bed/Bath ratio  •  Size/Lot ratio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ZIP-level avg price &amp; listing density</a:t>
            </a:r>
            <a:endParaRPr 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6236208" y="2423160"/>
            <a:ext cx="2743200" cy="2423160"/>
          </a:xfrm>
          <a:prstGeom prst="rect">
            <a:avLst/>
          </a:prstGeom>
          <a:solidFill>
            <a:srgbClr val="1E3A4F"/>
          </a:solidFill>
          <a:ln w="6350">
            <a:solidFill>
              <a:srgbClr val="00957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542032"/>
            <a:ext cx="365760" cy="36576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858000" y="2542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Validation</a:t>
            </a:r>
            <a:endParaRPr lang="en-US" sz="1300" dirty="0"/>
          </a:p>
        </p:txBody>
      </p:sp>
      <p:sp>
        <p:nvSpPr>
          <p:cNvPr id="39" name="Text 28"/>
          <p:cNvSpPr/>
          <p:nvPr/>
        </p:nvSpPr>
        <p:spPr>
          <a:xfrm>
            <a:off x="6400800" y="2999232"/>
            <a:ext cx="2487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|  LightGBM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K-Fold CV (grouped by ZIP code)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tuning: grid &amp; random search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Evaluation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128016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960120"/>
            <a:ext cx="1920240" cy="1463040"/>
          </a:xfrm>
          <a:prstGeom prst="rect">
            <a:avLst/>
          </a:prstGeom>
          <a:solidFill>
            <a:srgbClr val="0A2540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19202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0208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Model Fit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960120"/>
            <a:ext cx="1920240" cy="1463040"/>
          </a:xfrm>
          <a:prstGeom prst="rect">
            <a:avLst/>
          </a:prstGeom>
          <a:solidFill>
            <a:srgbClr val="0A2540"/>
          </a:solidFill>
          <a:ln w="63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0" y="960120"/>
            <a:ext cx="1920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0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~$92K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6032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0208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36592" y="960120"/>
            <a:ext cx="1920240" cy="1463040"/>
          </a:xfrm>
          <a:prstGeom prst="rect">
            <a:avLst/>
          </a:prstGeom>
          <a:solidFill>
            <a:srgbClr val="0A2540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36592" y="960120"/>
            <a:ext cx="19202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36592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483K+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36592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36592" y="20208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Listings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12864" y="960120"/>
            <a:ext cx="1920240" cy="1463040"/>
          </a:xfrm>
          <a:prstGeom prst="rect">
            <a:avLst/>
          </a:prstGeom>
          <a:solidFill>
            <a:srgbClr val="0A2540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12864" y="960120"/>
            <a:ext cx="19202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12864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99.85%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12864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Coverage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12864" y="20208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U.S. ZIP Codes</a:t>
            </a:r>
            <a:endParaRPr lang="en-US" sz="9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384048" y="2606040"/>
          <a:ext cx="51206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5669280" y="2606040"/>
            <a:ext cx="3017520" cy="2286000"/>
          </a:xfrm>
          <a:prstGeom prst="rect">
            <a:avLst/>
          </a:prstGeom>
          <a:solidFill>
            <a:srgbClr val="1E3A4F"/>
          </a:solidFill>
          <a:ln w="6350">
            <a:solidFill>
              <a:srgbClr val="00957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806440" y="27249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806440" y="3163824"/>
            <a:ext cx="5029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806440" y="31638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400800" y="31638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 by the model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806440" y="3602736"/>
            <a:ext cx="5029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806440" y="36027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400800" y="3602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absolute $ prediction error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806440" y="4041648"/>
            <a:ext cx="5029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806440" y="4041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00800" y="4041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errors heavily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806440" y="4480560"/>
            <a:ext cx="5029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806440" y="4480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400800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error relative to actual price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128016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960120"/>
            <a:ext cx="2743200" cy="1719072"/>
          </a:xfrm>
          <a:prstGeom prst="rect">
            <a:avLst/>
          </a:prstGeom>
          <a:solidFill>
            <a:srgbClr val="1E3A4F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2743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61288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17099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0128" y="960120"/>
            <a:ext cx="2743200" cy="1719072"/>
          </a:xfrm>
          <a:prstGeom prst="rect">
            <a:avLst/>
          </a:prstGeom>
          <a:solidFill>
            <a:srgbClr val="1E3A4F"/>
          </a:solidFill>
          <a:ln w="63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10128" y="960120"/>
            <a:ext cx="27432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161288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23360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93008" y="17099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/  LightGBM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36208" y="960120"/>
            <a:ext cx="2743200" cy="1719072"/>
          </a:xfrm>
          <a:prstGeom prst="rect">
            <a:avLst/>
          </a:prstGeom>
          <a:solidFill>
            <a:srgbClr val="1E3A4F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36208" y="960120"/>
            <a:ext cx="2743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161288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49440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19088" y="17099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•  Pandas  •  NumPy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84048" y="2880360"/>
            <a:ext cx="2743200" cy="1719072"/>
          </a:xfrm>
          <a:prstGeom prst="rect">
            <a:avLst/>
          </a:prstGeom>
          <a:solidFill>
            <a:srgbClr val="1E3A4F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384048" y="2880360"/>
            <a:ext cx="2743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081528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66928" y="363016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 •  Seaborn  •  Plotly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310128" y="2880360"/>
            <a:ext cx="2743200" cy="1719072"/>
          </a:xfrm>
          <a:prstGeom prst="rect">
            <a:avLst/>
          </a:prstGeom>
          <a:solidFill>
            <a:srgbClr val="1E3A4F"/>
          </a:solidFill>
          <a:ln w="63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310128" y="2880360"/>
            <a:ext cx="27432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081528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23360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493008" y="363016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236208" y="2880360"/>
            <a:ext cx="2743200" cy="1719072"/>
          </a:xfrm>
          <a:prstGeom prst="rect">
            <a:avLst/>
          </a:prstGeom>
          <a:solidFill>
            <a:srgbClr val="1E3A4F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236208" y="2880360"/>
            <a:ext cx="2743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3081528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49440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419088" y="363016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 •  GitHub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128016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1005840"/>
            <a:ext cx="8375904" cy="548640"/>
          </a:xfrm>
          <a:prstGeom prst="rect">
            <a:avLst/>
          </a:prstGeom>
          <a:solidFill>
            <a:srgbClr val="1E3A4F"/>
          </a:solidFill>
          <a:ln w="635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005840"/>
            <a:ext cx="64008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06070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0972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6192" y="10972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ML model with R² ≥ 0.82 and MAE ≈ $92K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84048" y="1664208"/>
            <a:ext cx="8375904" cy="548640"/>
          </a:xfrm>
          <a:prstGeom prst="rect">
            <a:avLst/>
          </a:prstGeom>
          <a:solidFill>
            <a:srgbClr val="1E3A4F"/>
          </a:solidFill>
          <a:ln w="635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84048" y="1664208"/>
            <a:ext cx="64008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0352" y="171907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175564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36192" y="175564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reproducible Jupyter Notebook pipeline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84048" y="2322576"/>
            <a:ext cx="8375904" cy="548640"/>
          </a:xfrm>
          <a:prstGeom prst="rect">
            <a:avLst/>
          </a:prstGeom>
          <a:solidFill>
            <a:srgbClr val="1E3A4F"/>
          </a:solidFill>
          <a:ln w="635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84048" y="2322576"/>
            <a:ext cx="64008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30352" y="23774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241401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36192" y="241401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PropIQ Streamlit app for instant property valuations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384048" y="2980944"/>
            <a:ext cx="8375904" cy="548640"/>
          </a:xfrm>
          <a:prstGeom prst="rect">
            <a:avLst/>
          </a:prstGeom>
          <a:solidFill>
            <a:srgbClr val="1E3A4F"/>
          </a:solidFill>
          <a:ln w="635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384048" y="2980944"/>
            <a:ext cx="64008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530352" y="30358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3072384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36192" y="307238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visualizations &amp; geographic heatmaps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84048" y="3639312"/>
            <a:ext cx="8375904" cy="548640"/>
          </a:xfrm>
          <a:prstGeom prst="rect">
            <a:avLst/>
          </a:prstGeom>
          <a:solidFill>
            <a:srgbClr val="1E3A4F"/>
          </a:solidFill>
          <a:ln w="635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84048" y="3639312"/>
            <a:ext cx="64008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530352" y="36941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" y="3730752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36192" y="373075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preprocessing &amp; feature engineering pipeline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384048" y="4297680"/>
            <a:ext cx="8375904" cy="548640"/>
          </a:xfrm>
          <a:prstGeom prst="rect">
            <a:avLst/>
          </a:prstGeom>
          <a:solidFill>
            <a:srgbClr val="1E3A4F"/>
          </a:solidFill>
          <a:ln w="635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384048" y="4297680"/>
            <a:ext cx="64008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530352" y="435254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992" y="438912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536192" y="43891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GitHub documentation + comprehensive README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3650" y="-2148492"/>
            <a:ext cx="5029200" cy="50292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82838" y="823308"/>
            <a:ext cx="4114800" cy="4114800"/>
          </a:xfrm>
          <a:prstGeom prst="ellipse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50292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2217907" y="3115550"/>
            <a:ext cx="26978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live demo  →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Samira Gamal 230104129  |  Mariam Khalil 230101792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kaggle.com/datasets/ahmedshahriarsakib/usa-real-estate-dataset  •  GitHub: github.com/samira2a04-AI/house-price-prediction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2C5AD7-F026-2F14-8C6C-2EF9DC770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645" y="3010244"/>
            <a:ext cx="710737" cy="7460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577</Words>
  <Application>Microsoft Office PowerPoint</Application>
  <PresentationFormat>On-screen Show (16:9)</PresentationFormat>
  <Paragraphs>144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PropIQ — Real Estate AI</dc:title>
  <dc:subject>PptxGenJS Presentation</dc:subject>
  <dc:creator>Samira Gamal &amp; Mariam Khalil</dc:creator>
  <cp:lastModifiedBy>Mariam Khalil Ibrahim Mostafa</cp:lastModifiedBy>
  <cp:revision>2</cp:revision>
  <dcterms:created xsi:type="dcterms:W3CDTF">2026-05-13T20:53:22Z</dcterms:created>
  <dcterms:modified xsi:type="dcterms:W3CDTF">2026-05-13T21:05:38Z</dcterms:modified>
</cp:coreProperties>
</file>